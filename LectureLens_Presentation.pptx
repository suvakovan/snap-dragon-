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solidFill>
            <a:srgbClr val="18181C"/>
          </a:solidFill>
          <a:ln w="254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D100"/>
                </a:solidFill>
              </a:defRPr>
            </a:pPr>
            <a:r>
              <a:t>LECTURELENS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</a:defRPr>
            </a:pPr>
            <a:r>
              <a:t>Fully Offline Lecture Copilot Accelerated for Snapdragon PCs</a:t>
            </a:r>
          </a:p>
          <a:p>
            <a:pPr>
              <a:spcBef>
                <a:spcPts val="2000"/>
              </a:spcBef>
              <a:defRPr sz="1300">
                <a:solidFill>
                  <a:srgbClr val="A1A1AA"/>
                </a:solidFill>
              </a:defRPr>
            </a:pPr>
            <a:r>
              <a:t>Qualcomm Snapdragon AI Lab Challenge Submission</a:t>
            </a:r>
            <a:br/>
            <a:r>
              <a:t>100% Private • NPU Accelerated • Zero Cloud Dependency</a:t>
            </a:r>
          </a:p>
        </p:txBody>
      </p:sp>
      <p:pic>
        <p:nvPicPr>
          <p:cNvPr id="4" name="Picture 3" descr="ap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2288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Classroom Wi-Fi Deadzones &amp; Cloud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🌐 Campus Wi-Fi Deadzones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Overcrowded lecture halls suffer from severe bandwidth throttling or zero cellular coverage, rendering cloud AI tools unusable.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18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⚡ Fast-Paced STEM Lectures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Engineering &amp; STEM students struggle to listen attentively while scribbling complex equations and technical terminology.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18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🔒 Privacy &amp; IP Concerns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Uploading proprietary course lectures or confidential research audio to public cloud APIs violates data privacy policies.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LectureLens On-Device AI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D100"/>
                </a:solidFill>
              </a:defRPr>
            </a:pPr>
            <a:r>
              <a:t>🔒 100% Data Privacy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All audio processing, neural transcription, and LLM summary generation happen locally on the laptop with zero cloud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D100"/>
                </a:solidFill>
              </a:defRPr>
            </a:pPr>
            <a:r>
              <a:t>⚡ Hexagon NPU Acceleration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Optimized with Qualcomm QNN Execution Provider (HTP) &amp; Foundry Local NPU model endpoints for maximum battery efficiency.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D100"/>
                </a:solidFill>
              </a:defRPr>
            </a:pPr>
            <a:r>
              <a:t>🎓 Automated Study Artifacts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Instant conversion of raw classroom speech into executive notes, key term glossaries, interactive quizzes, and flashcards.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Student Workflow: From Audio Stream to Knowledge Mastery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011680" cy="3657600"/>
          </a:xfrm>
          <a:prstGeom prst="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00"/>
                </a:solidFill>
              </a:defRPr>
            </a:pPr>
            <a:r>
              <a:t>1. Record / Upload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Live mic capture or WAV/MP3/FLAC file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1" y="2011680"/>
            <a:ext cx="2011680" cy="3657600"/>
          </a:xfrm>
          <a:prstGeom prst="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1" y="21031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00"/>
                </a:solidFill>
              </a:defRPr>
            </a:pPr>
            <a:r>
              <a:t>2. Transcribe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Neural Whisper STT with sub-second chunking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2011680"/>
            <a:ext cx="2011680" cy="3657600"/>
          </a:xfrm>
          <a:prstGeom prst="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1031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00"/>
                </a:solidFill>
              </a:defRPr>
            </a:pPr>
            <a:r>
              <a:t>3. Summarize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Executive bullets, key terms &amp; revision paragraph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2011680"/>
            <a:ext cx="2011680" cy="3657600"/>
          </a:xfrm>
          <a:prstGeom prst="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21031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00"/>
                </a:solidFill>
              </a:defRPr>
            </a:pPr>
            <a:r>
              <a:t>4. Quiz &amp; Flashcards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Interactive multiple choice Q&amp;A &amp; active recall cards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2011680"/>
            <a:ext cx="2011680" cy="3657600"/>
          </a:xfrm>
          <a:prstGeom prst="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21031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00"/>
                </a:solidFill>
              </a:defRPr>
            </a:pPr>
            <a:r>
              <a:t>5. Hybrid Search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Cross-lecture vector embeddings &amp; BM25 keyword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On-Device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82880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Audio Resampler &amp; VAD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16 kHz mono conversion with energy-based voice activity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Whisper STT (QNN/HTP)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ONNX Runtime QNN provider for NPU speech recognition + PyTorch CPU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82880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Foundry Local LLM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Standardized local NPU chat endpoint + Ollama local CPU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182880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Hybrid Search Engine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ONNX MiniLM passage embeddings + BM25 keyword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Snapdragon NPU Acceleration &amp; Dual Engine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00"/>
                </a:solidFill>
              </a:defRPr>
            </a:pPr>
            <a:r>
              <a:t>⚡ Qualcomm Hexagon NPU Offloading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Offloads dense matrix multiplications to Hexagon NPU to extend battery life and keep CPU thermals cool during long 2-hour lectures.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698480" cy="100584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00"/>
                </a:solidFill>
              </a:defRPr>
            </a:pPr>
            <a:r>
              <a:t>🛠️ ONNX Runtime + QNN Provider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`stt_qnn.py` connects directly to Qualcomm HTP driver for NPU-accelerated Whisper speech recognition.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10698480" cy="100584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00"/>
                </a:solidFill>
              </a:defRPr>
            </a:pPr>
            <a:r>
              <a:t>💬 Foundry Local NPU LLM Endpoint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`llm_foundry.py` wraps local `/v1/chat/completions` API targeting Snapdragon NPU LLM models.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00"/>
                </a:solidFill>
              </a:defRPr>
            </a:pPr>
            <a:r>
              <a:t>💻 Graceful CPU Fallback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Zero-downtime fallback to PyTorch &amp; Ollama CPU engines when QNN hardware is absent on non-Snapdragon dev machines.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Honest &amp; Verified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100"/>
                </a:solidFill>
              </a:defRPr>
            </a:pPr>
            <a:r>
              <a:t>10% WER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STT Accuracy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</a:defRPr>
            </a:pPr>
            <a:r>
              <a:t>Verified against 40-word human TTS reference transcript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100"/>
                </a:solidFill>
              </a:defRPr>
            </a:pPr>
            <a:r>
              <a:t>4.93 tok/sec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LLM Speed (CPU)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</a:defRPr>
            </a:pPr>
            <a:r>
              <a:t>Measured on Ollama phi3:mini local CPU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100"/>
                </a:solidFill>
              </a:defRPr>
            </a:pPr>
            <a:r>
              <a:t>~0.166 RTF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STT Processing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</a:defRPr>
            </a:pPr>
            <a:r>
              <a:t>Real-time factor measured for Whisper CPU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100"/>
                </a:solidFill>
              </a:defRPr>
            </a:pPr>
            <a:r>
              <a:t>24 / 24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Unit &amp; Integration Tests</a:t>
            </a:r>
          </a:p>
          <a:p>
            <a:pPr>
              <a:spcBef>
                <a:spcPts val="400"/>
              </a:spcBef>
              <a:defRPr sz="1200">
                <a:solidFill>
                  <a:srgbClr val="A1A1AA"/>
                </a:solidFill>
              </a:defRPr>
            </a:pPr>
            <a:r>
              <a:t>100% test suite pass rate verified with pytest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Strict Offline Guarantee &amp; Zero Cloud Interception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100"/>
                </a:solidFill>
              </a:defRPr>
            </a:pPr>
            <a:r>
              <a:t>0 Cloud Network Calls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Confirmed by `scripts/offline_check.py` socket guard monkeypatching.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100"/>
                </a:solidFill>
              </a:defRPr>
            </a:pPr>
            <a:r>
              <a:t>100% Data Residency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Audio, transcripts, notes, and vector databases remain encrypted on local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8181C"/>
          </a:solidFill>
          <a:ln w="1905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100"/>
                </a:solidFill>
              </a:defRPr>
            </a:pPr>
            <a:r>
              <a:t>Airplane Mode Ready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Operates reliably without active Wi-Fi, cellular, or Bluetooth networks.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Experience: iQOO Cyber Yellow &amp; Obsidian Black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100"/>
                </a:solidFill>
              </a:defRPr>
            </a:pPr>
            <a:r>
              <a:t>🎨 High-Contrast Streamlit Web Dashboard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Inspired by flagship iQOO Monster Cyber Yellow (#FFD100) &amp; Pitch Carbon (#000000) styling.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8 Responsive Navigation Tabs: Record, Notes, Quiz, Flashcards, Search, Q&amp;A, Performance, History.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Real-Time Acceleration Sidebar: Shows active hardware status (QNN NPU vs CPU Fallback).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Accessible &amp; High-Contrast: Optimized typography for fast classroom readability.</a:t>
            </a:r>
          </a:p>
        </p:txBody>
      </p:sp>
      <p:pic>
        <p:nvPicPr>
          <p:cNvPr id="5" name="Picture 4" descr="ap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2500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 Persona &amp; Real-World Educational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🎓 STEM Students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Rapid extraction of complex engineering concepts, formulas, and technical glossaries.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⚖️ Law &amp; Medical Students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High-density active recall quiz generation and automatic flashcard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🔬 Research Faculty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Secure, confidential lecture recording and seminar analysis with zero privacy leaks.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100"/>
                </a:solidFill>
              </a:defRPr>
            </a:pPr>
            <a:r>
              <a:t>LECTURELENS — QUALCOMM SNAPDRAGON AI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Roadmap: Extending On-Device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1. Speaker Diarization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On-device voice embeddings to separate professor vs student questions in live audio.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2. Multilingual Support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Real-time speech translation for Tamil, Hindi, Spanish, and German lectures.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solidFill>
            <a:srgbClr val="18181C"/>
          </a:solidFill>
          <a:ln w="127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100"/>
                </a:solidFill>
              </a:defRPr>
            </a:pPr>
            <a:r>
              <a:t>3. Wi-Fi Direct Sync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Local peer-to-peer note sharing between Snapdragon laptops and tablets without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solidFill>
            <a:srgbClr val="18181C"/>
          </a:solidFill>
          <a:ln w="25400"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D100"/>
                </a:solidFill>
              </a:defRPr>
            </a:pPr>
            <a:r>
              <a:t>LECTURELENS</a:t>
            </a:r>
          </a:p>
          <a:p>
            <a:pPr algn="ctr">
              <a:spcBef>
                <a:spcPts val="1600"/>
              </a:spcBef>
              <a:defRPr sz="2000" b="1">
                <a:solidFill>
                  <a:srgbClr val="FFFFFF"/>
                </a:solidFill>
              </a:defRPr>
            </a:pPr>
            <a:r>
              <a:t>Bringing Private, Offline AI to Every Engineering Classroom.</a:t>
            </a:r>
          </a:p>
          <a:p>
            <a:pPr algn="ctr">
              <a:spcBef>
                <a:spcPts val="2400"/>
              </a:spcBef>
              <a:defRPr sz="1400">
                <a:solidFill>
                  <a:srgbClr val="A1A1AA"/>
                </a:solidFill>
              </a:defRPr>
            </a:pPr>
            <a:r>
              <a:t>GitHub Repo: https://github.com/suvakovan/SNAP-DRAGON-</a:t>
            </a:r>
            <a:br/>
            <a:r>
              <a:t>Qualcomm Snapdragon AI Lab Challenge 2026</a:t>
            </a:r>
          </a:p>
          <a:p>
            <a:pPr algn="ctr">
              <a:spcBef>
                <a:spcPts val="3000"/>
              </a:spcBef>
              <a:defRPr sz="2200" b="1">
                <a:solidFill>
                  <a:srgbClr val="FFD100"/>
                </a:solidFill>
              </a:defRPr>
            </a:pPr>
            <a:r>
              <a:t>THANK YOU! 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